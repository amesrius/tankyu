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d06527ca3c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d06527ca3c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d06527ca3c_3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d06527ca3c_3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d06527ca3c_3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d06527ca3c_3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d06527ca3c_3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d06527ca3c_3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d06527ca3c_3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d06527ca3c_3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d06527ca3c_3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d06527ca3c_3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d06527ca3c_3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d06527ca3c_3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d06527ca3c_3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d06527ca3c_3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3600">
                <a:solidFill>
                  <a:srgbClr val="073763"/>
                </a:solidFill>
              </a:rPr>
              <a:t>推しぬいは「心の居場所」</a:t>
            </a:r>
            <a:endParaRPr b="1" sz="3600">
              <a:solidFill>
                <a:srgbClr val="073763"/>
              </a:solidFill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175450"/>
            <a:ext cx="8520600" cy="203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2400">
                <a:solidFill>
                  <a:srgbClr val="333333"/>
                </a:solidFill>
              </a:rPr>
              <a:t>～中高生の安心感に関する探究～</a:t>
            </a:r>
            <a:endParaRPr sz="2400">
              <a:solidFill>
                <a:srgbClr val="333333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333333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333333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333333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2400">
                <a:solidFill>
                  <a:srgbClr val="333333"/>
                </a:solidFill>
              </a:rPr>
              <a:t>探究学校　1年　探究太郎</a:t>
            </a:r>
            <a:endParaRPr sz="2400">
              <a:solidFill>
                <a:srgbClr val="333333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3600">
                <a:solidFill>
                  <a:srgbClr val="073763"/>
                </a:solidFill>
              </a:rPr>
              <a:t>1. きっかけ：なぜ調べた？</a:t>
            </a:r>
            <a:endParaRPr b="1" sz="3600">
              <a:solidFill>
                <a:srgbClr val="073763"/>
              </a:solidFill>
            </a:endParaRPr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401900"/>
            <a:ext cx="8520600" cy="233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2400">
                <a:solidFill>
                  <a:srgbClr val="333333"/>
                </a:solidFill>
              </a:rPr>
              <a:t>・自分の「ぬい撮り」体験から</a:t>
            </a:r>
            <a:endParaRPr sz="2400">
              <a:solidFill>
                <a:srgbClr val="333333"/>
              </a:solidFill>
            </a:endParaRPr>
          </a:p>
          <a:p>
            <a:pPr indent="0" lvl="0" marL="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ja" sz="2400">
                <a:solidFill>
                  <a:srgbClr val="333333"/>
                </a:solidFill>
              </a:rPr>
              <a:t>・SNSで広がるファンの熱量</a:t>
            </a:r>
            <a:endParaRPr sz="2400">
              <a:solidFill>
                <a:srgbClr val="333333"/>
              </a:solidFill>
            </a:endParaRPr>
          </a:p>
          <a:p>
            <a:pPr indent="0" lvl="0" marL="0" rtl="0" algn="l">
              <a:lnSpc>
                <a:spcPct val="2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ja" sz="2400">
                <a:solidFill>
                  <a:srgbClr val="333333"/>
                </a:solidFill>
              </a:rPr>
              <a:t>・モノが人を救う理由を知りたい</a:t>
            </a:r>
            <a:endParaRPr sz="2400">
              <a:solidFill>
                <a:srgbClr val="333333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3600">
                <a:solidFill>
                  <a:srgbClr val="073763"/>
                </a:solidFill>
              </a:rPr>
              <a:t>2. 問い：知りたいこと</a:t>
            </a:r>
            <a:endParaRPr b="1" sz="3600">
              <a:solidFill>
                <a:srgbClr val="073763"/>
              </a:solidFill>
            </a:endParaRPr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325475"/>
            <a:ext cx="8520600" cy="286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2400">
                <a:solidFill>
                  <a:srgbClr val="333333"/>
                </a:solidFill>
              </a:rPr>
              <a:t>【問い】</a:t>
            </a:r>
            <a:endParaRPr sz="2400">
              <a:solidFill>
                <a:srgbClr val="333333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ja" sz="2400">
                <a:solidFill>
                  <a:srgbClr val="333333"/>
                </a:solidFill>
              </a:rPr>
              <a:t>ぬいは中高生の心を癒やすか？</a:t>
            </a:r>
            <a:endParaRPr sz="2400">
              <a:solidFill>
                <a:srgbClr val="333333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333333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ja" sz="2400">
                <a:solidFill>
                  <a:srgbClr val="333333"/>
                </a:solidFill>
              </a:rPr>
              <a:t>【仮説】</a:t>
            </a:r>
            <a:endParaRPr sz="2400">
              <a:solidFill>
                <a:srgbClr val="333333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ja" sz="2400">
                <a:solidFill>
                  <a:srgbClr val="333333"/>
                </a:solidFill>
              </a:rPr>
              <a:t>ぬいは「持ち運べる居場所」である</a:t>
            </a:r>
            <a:endParaRPr sz="2400">
              <a:solidFill>
                <a:srgbClr val="333333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3600">
                <a:solidFill>
                  <a:srgbClr val="073763"/>
                </a:solidFill>
              </a:rPr>
              <a:t>3. 方法：どう調べた？</a:t>
            </a:r>
            <a:endParaRPr b="1" sz="3600">
              <a:solidFill>
                <a:srgbClr val="073763"/>
              </a:solidFill>
            </a:endParaRPr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401900"/>
            <a:ext cx="8520600" cy="233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2400">
                <a:solidFill>
                  <a:srgbClr val="333333"/>
                </a:solidFill>
              </a:rPr>
              <a:t>・同年代30名へのアンケート</a:t>
            </a:r>
            <a:endParaRPr sz="2400">
              <a:solidFill>
                <a:srgbClr val="333333"/>
              </a:solidFill>
            </a:endParaRPr>
          </a:p>
          <a:p>
            <a:pPr indent="0" lvl="0" marL="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ja" sz="2400">
                <a:solidFill>
                  <a:srgbClr val="333333"/>
                </a:solidFill>
              </a:rPr>
              <a:t>・愛好家3名へのインタビュー</a:t>
            </a:r>
            <a:endParaRPr sz="2400">
              <a:solidFill>
                <a:srgbClr val="333333"/>
              </a:solidFill>
            </a:endParaRPr>
          </a:p>
          <a:p>
            <a:pPr indent="0" lvl="0" marL="0" rtl="0" algn="l">
              <a:lnSpc>
                <a:spcPct val="2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ja" sz="2400">
                <a:solidFill>
                  <a:srgbClr val="333333"/>
                </a:solidFill>
              </a:rPr>
              <a:t>・「安心毛布」に関する文献調査</a:t>
            </a:r>
            <a:endParaRPr sz="2400">
              <a:solidFill>
                <a:srgbClr val="333333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3600">
                <a:solidFill>
                  <a:srgbClr val="073763"/>
                </a:solidFill>
              </a:rPr>
              <a:t>4. 結果：わかった事実</a:t>
            </a:r>
            <a:endParaRPr b="1" sz="3600">
              <a:solidFill>
                <a:srgbClr val="073763"/>
              </a:solidFill>
            </a:endParaRPr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401900"/>
            <a:ext cx="8520600" cy="233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2400">
                <a:solidFill>
                  <a:srgbClr val="333333"/>
                </a:solidFill>
              </a:rPr>
              <a:t>・80%が「触れると落ち着く」</a:t>
            </a:r>
            <a:endParaRPr sz="2400">
              <a:solidFill>
                <a:srgbClr val="333333"/>
              </a:solidFill>
            </a:endParaRPr>
          </a:p>
          <a:p>
            <a:pPr indent="0" lvl="0" marL="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ja" sz="2400">
                <a:solidFill>
                  <a:srgbClr val="333333"/>
                </a:solidFill>
              </a:rPr>
              <a:t>・「発表の日は必須」という声も</a:t>
            </a:r>
            <a:endParaRPr sz="2400">
              <a:solidFill>
                <a:srgbClr val="333333"/>
              </a:solidFill>
            </a:endParaRPr>
          </a:p>
          <a:p>
            <a:pPr indent="0" lvl="0" marL="0" rtl="0" algn="l">
              <a:lnSpc>
                <a:spcPct val="2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ja" sz="2400">
                <a:solidFill>
                  <a:srgbClr val="333333"/>
                </a:solidFill>
              </a:rPr>
              <a:t>・単なる飾りではない事実</a:t>
            </a:r>
            <a:endParaRPr sz="2400">
              <a:solidFill>
                <a:srgbClr val="333333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3600">
                <a:solidFill>
                  <a:srgbClr val="073763"/>
                </a:solidFill>
              </a:rPr>
              <a:t>5. 考察：なぜそうなった？</a:t>
            </a:r>
            <a:endParaRPr b="1" sz="3600">
              <a:solidFill>
                <a:srgbClr val="073763"/>
              </a:solidFill>
            </a:endParaRPr>
          </a:p>
        </p:txBody>
      </p:sp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311700" y="1401900"/>
            <a:ext cx="8520600" cy="233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2400">
                <a:solidFill>
                  <a:srgbClr val="333333"/>
                </a:solidFill>
              </a:rPr>
              <a:t>・ぬいは「安全基地」の役割</a:t>
            </a:r>
            <a:endParaRPr sz="2400">
              <a:solidFill>
                <a:srgbClr val="333333"/>
              </a:solidFill>
            </a:endParaRPr>
          </a:p>
          <a:p>
            <a:pPr indent="0" lvl="0" marL="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ja" sz="2400">
                <a:solidFill>
                  <a:srgbClr val="333333"/>
                </a:solidFill>
              </a:rPr>
              <a:t>・対人関係のストレスを補完</a:t>
            </a:r>
            <a:endParaRPr sz="2400">
              <a:solidFill>
                <a:srgbClr val="333333"/>
              </a:solidFill>
            </a:endParaRPr>
          </a:p>
          <a:p>
            <a:pPr indent="0" lvl="0" marL="0" rtl="0" algn="l">
              <a:lnSpc>
                <a:spcPct val="2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ja" sz="2400">
                <a:solidFill>
                  <a:srgbClr val="333333"/>
                </a:solidFill>
              </a:rPr>
              <a:t>・自分を肯定してくれる存在</a:t>
            </a:r>
            <a:endParaRPr sz="2400">
              <a:solidFill>
                <a:srgbClr val="333333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3600">
                <a:solidFill>
                  <a:srgbClr val="073763"/>
                </a:solidFill>
              </a:rPr>
              <a:t>6. 結論：探究の答え</a:t>
            </a:r>
            <a:endParaRPr b="1" sz="3600">
              <a:solidFill>
                <a:srgbClr val="073763"/>
              </a:solidFill>
            </a:endParaRPr>
          </a:p>
        </p:txBody>
      </p:sp>
      <p:sp>
        <p:nvSpPr>
          <p:cNvPr id="91" name="Google Shape;91;p19"/>
          <p:cNvSpPr txBox="1"/>
          <p:nvPr>
            <p:ph idx="1" type="body"/>
          </p:nvPr>
        </p:nvSpPr>
        <p:spPr>
          <a:xfrm>
            <a:off x="311700" y="1302400"/>
            <a:ext cx="8520600" cy="286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2400">
                <a:solidFill>
                  <a:srgbClr val="333333"/>
                </a:solidFill>
              </a:rPr>
              <a:t>【結論】</a:t>
            </a:r>
            <a:endParaRPr sz="2400">
              <a:solidFill>
                <a:srgbClr val="333333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ja" sz="2400">
                <a:solidFill>
                  <a:srgbClr val="333333"/>
                </a:solidFill>
              </a:rPr>
              <a:t>ぬいは「可搬型の居場所」である</a:t>
            </a:r>
            <a:endParaRPr sz="2400">
              <a:solidFill>
                <a:srgbClr val="333333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333333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ja" sz="2400">
                <a:solidFill>
                  <a:srgbClr val="333333"/>
                </a:solidFill>
              </a:rPr>
              <a:t>【課題】</a:t>
            </a:r>
            <a:endParaRPr sz="2400">
              <a:solidFill>
                <a:srgbClr val="333333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ja" sz="2400">
                <a:solidFill>
                  <a:srgbClr val="333333"/>
                </a:solidFill>
              </a:rPr>
              <a:t>アクスタとの違いを調べたい</a:t>
            </a:r>
            <a:endParaRPr sz="2400">
              <a:solidFill>
                <a:srgbClr val="333333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3600">
                <a:solidFill>
                  <a:srgbClr val="073763"/>
                </a:solidFill>
              </a:rPr>
              <a:t>7. 参考文献</a:t>
            </a:r>
            <a:endParaRPr b="1" sz="3600">
              <a:solidFill>
                <a:srgbClr val="073763"/>
              </a:solidFill>
            </a:endParaRPr>
          </a:p>
        </p:txBody>
      </p:sp>
      <p:sp>
        <p:nvSpPr>
          <p:cNvPr id="97" name="Google Shape;97;p20"/>
          <p:cNvSpPr txBox="1"/>
          <p:nvPr>
            <p:ph idx="1" type="body"/>
          </p:nvPr>
        </p:nvSpPr>
        <p:spPr>
          <a:xfrm>
            <a:off x="311700" y="1360050"/>
            <a:ext cx="8520600" cy="256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2400">
                <a:solidFill>
                  <a:srgbClr val="333333"/>
                </a:solidFill>
              </a:rPr>
              <a:t>・探究花子（2024）「高校生の居場所づくり」『教育学研究』10(2), 45-58.</a:t>
            </a:r>
            <a:endParaRPr sz="2400">
              <a:solidFill>
                <a:srgbClr val="333333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ja" sz="2400">
                <a:solidFill>
                  <a:srgbClr val="333333"/>
                </a:solidFill>
              </a:rPr>
              <a:t>・NHK for School. "10分でわかる愛着の基本". YouTube. 2023-05-10. https://www.youtube.com/..., (2026-02-09).</a:t>
            </a:r>
            <a:endParaRPr sz="2400">
              <a:solidFill>
                <a:srgbClr val="333333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ja" sz="2400">
                <a:solidFill>
                  <a:srgbClr val="333333"/>
                </a:solidFill>
              </a:rPr>
              <a:t>・山田太郎『情報の整理術』探究出版, 2023, 120-125.</a:t>
            </a:r>
            <a:endParaRPr sz="2400">
              <a:solidFill>
                <a:srgbClr val="333333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